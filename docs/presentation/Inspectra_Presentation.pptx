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693cfe0-dadc-a69e-c954-9cb370957ff4}">
          <p14:sldIdLst>
            <p14:sldId id="256"/>
            <p14:sldId id="257"/>
          </p14:sldIdLst>
        </p14:section>
        <p14:section name="System design" id="{4e1765d5-2725-267f-9d52-831bf6525ff3}">
          <p14:sldIdLst>
            <p14:sldId id="258"/>
            <p14:sldId id="259"/>
          </p14:sldIdLst>
        </p14:section>
        <p14:section name="Live demonstration" id="{26fe459b-415b-3a34-8f84-f6fe098e5c13}">
          <p14:sldIdLst>
            <p14:sldId id="260"/>
            <p14:sldId id="261"/>
            <p14:sldId id="262"/>
          </p14:sldIdLst>
        </p14:section>
        <p14:section name="Safety and evidence" id="{6d95498e-d8a4-f675-bdf8-a0dfc458cd8d}">
          <p14:sldIdLst>
            <p14:sldId id="263"/>
            <p14:sldId id="264"/>
            <p14:sldId id="265"/>
          </p14:sldIdLst>
        </p14:section>
        <p14:section name="Wrap-up" id="{c0131462-18b6-ebf9-b7d3-48dd20f6cb3c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[0:00-0:45] Introduce Inspectra: a QA agent that verifies code against written specs. The key idea is on the right: it senses, plans, acts and observes, but the one step with real consequences, filing an issue, always waits for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[0:45-1:45] Problem: manual spec verification is slow, and free-running LLM assistants hallucinate requirements, run unverified tests and can touch code they should not. Users: engineers, QA automation engineers and leads reviewing PRs against acceptance criteria. Solution: a bounded agent that grounds itself in specs, tests in a sandbox, and cannot file anything without a human-minted cryptographic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[1:45-3:00] Walk left to right. Queries arrive directly or through the MCP JSON-RPC server. The core is a LangGraph finite state graph running a sense, plan, act, observe loop. It uses Gemini Flash (or the offline ScriptedLLM), BM25 retrieval over the markdown requirements, a sandbox runner, and a subscription-service system under test. The amber box is the only path to side effects. Case history informs the human approver but is firewalled from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[3:00-4:00] Each stage fixed a failure of the one before. Foundation model: fluent but ungrounded. RAG: answers tied to acceptance criteria, and it can refuse out-of-scope queries (NO_GROUNDED_TESTS_FOUND). Tools: structured capabilities and an approval interceptor. Bounded agent: explicit state, hard limits, pinned files, and case history for the human. Point to the staircase: capability and control grow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[4:00-6:00] LIVE DEMO. Run: python demo/run_demo.py --planted-bug. Narrate the phases as they print: requirement retrieved (balance &gt;= $50.00 upgrades and deducts $50.00), tests proposed to sandbox/generated/, tests run. The planted bug makes the exact-boundary test (balance == 50.00) fail with InsufficientFundsError. The agent drafts an issue and then attempts file_issue, which stops at the approval gate (next slides). If live run or Gemini quota fails, switch to offline mode (see demo checklist).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[6:00-7:00] The agent cannot wander: phases move strictly forward and each tool is only valid in certain phases. MAX_HOPS is 7, one call per step, and it may only run or file the exact files it generated in this session. Overruns end in STOPPED with a recorded stop_reason, not a crash or a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[7:00-8:45] LIVE DEMO of both outcomes. Run 1: type y at the prompt; the token is verified and consumed, the draft moves to evidence/issues/filed/. Run 2: type n; request_human_approval returns False, the tool reports approval_required, the machine goes to STOPPED with stop_reason human_rejection. No crash, no retry loop, draft preserved for manual inspection. Note: filing here is a local filesystem move, not a live GitHub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[8:45-9:45] Defence in depth: even if one layer were bypassed, others hold. Highlight number 5: the model cannot forge approval because the HMAC token can only be minted by the human approval action, is single-use, and expires. Number 6: memory is advisory to the human and is deliberately kept out of the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[9:45-10:45] Be precise about what is evidenced. 134 tests pass in under 65 seconds. 42 evaluation scenarios are defined and documented, verified across unit and deterministic tests; they have not all been run live against Gemini because of quota. Traces are JSON Lines with six dimensions. Show the filed REQ-2.1 issue as the concrete defect artifact. Optionally flash a real terminal screenshot of the pytest summary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[10:45-11:30] A genuine limitation, not a staged one: the free-tier Gemini quota ran out during live trace collection. The response was architectural: an offline ScriptedLLM so the same workflow can be demonstrated and tested deterministically. The human-rejection stop on slide 7 is the other controlled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[11:30-12:30] Be candid. Issue filing is a local filesystem operation; the GitHub tool is implemented but not proven live. The free-tier quota limits live evaluation, so the 42 scenarios are defined and verified through deterministic tests rather than all run live. The SUT is small and synthetic. The next-step column is proposed future work, not completed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[12:30-13:00] Close on the three words. Then take questions. Likely questions: why HMAC rather than a simple flag (the model must not be able to forge approval); why BM25 (deterministic, inspectable grounding); what was not proven live (GitHub dispatch, all 42 scenarios against live Gemini).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Inspectra  |  BSE 4104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7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Inspectra  |  BSE 4104 Capstone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-1"/>
          <p:cNvSpPr txBox="1"/>
          <p:nvPr/>
        </p:nvSpPr>
        <p:spPr>
          <a:xfrm>
            <a:off x="640080" y="822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BSE 4104  |  EMERGING TRENDS IN SOFTWARE ENGINEERING  |  CAPSTONE</a:t>
            </a:r>
            <a:endParaRPr lang="en-US" sz="1100" dirty="0"/>
          </a:p>
        </p:txBody>
      </p:sp>
      <p:sp>
        <p:nvSpPr>
          <p:cNvPr id="3" name="txt-2"/>
          <p:cNvSpPr txBox="1"/>
          <p:nvPr/>
        </p:nvSpPr>
        <p:spPr>
          <a:xfrm>
            <a:off x="640080" y="1417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Inspectra</a:t>
            </a:r>
            <a:endParaRPr lang="en-US" sz="5400" dirty="0"/>
          </a:p>
        </p:txBody>
      </p:sp>
      <p:sp>
        <p:nvSpPr>
          <p:cNvPr id="4" name="txt-3"/>
          <p:cNvSpPr txBox="1"/>
          <p:nvPr/>
        </p:nvSpPr>
        <p:spPr>
          <a:xfrm>
            <a:off x="640080" y="2468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bounded Software-Engineering QA Agent that checks code against specifications and asks a human before it acts</a:t>
            </a:r>
            <a:endParaRPr lang="en-US" sz="1800" dirty="0"/>
          </a:p>
        </p:txBody>
      </p:sp>
      <p:sp>
        <p:nvSpPr>
          <p:cNvPr id="5" name="txt-4"/>
          <p:cNvSpPr txBox="1"/>
          <p:nvPr/>
        </p:nvSpPr>
        <p:spPr>
          <a:xfrm>
            <a:off x="640080" y="4297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Makerere University  |  College of Computing and Information Sciences</a:t>
            </a:r>
            <a:endParaRPr lang="en-US" sz="1200" dirty="0"/>
          </a:p>
        </p:txBody>
      </p:sp>
      <p:sp>
        <p:nvSpPr>
          <p:cNvPr id="6" name="box-5"/>
          <p:cNvSpPr/>
          <p:nvPr/>
        </p:nvSpPr>
        <p:spPr>
          <a:xfrm>
            <a:off x="5943600" y="914400"/>
            <a:ext cx="2743200" cy="56692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64592" tIns="164592" rIns="164592" bIns="16459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SENSE  </a:t>
            </a:r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retrieve the spec</a:t>
            </a:r>
            <a:endParaRPr lang="en-US" sz="1300" dirty="0"/>
          </a:p>
        </p:txBody>
      </p:sp>
      <p:sp>
        <p:nvSpPr>
          <p:cNvPr id="7" name="box-6"/>
          <p:cNvSpPr/>
          <p:nvPr/>
        </p:nvSpPr>
        <p:spPr>
          <a:xfrm>
            <a:off x="5943600" y="1591056"/>
            <a:ext cx="2743200" cy="56692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64592" tIns="164592" rIns="164592" bIns="16459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PLAN  </a:t>
            </a:r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propose tests</a:t>
            </a:r>
            <a:endParaRPr lang="en-US" sz="1300" dirty="0"/>
          </a:p>
        </p:txBody>
      </p:sp>
      <p:sp>
        <p:nvSpPr>
          <p:cNvPr id="8" name="box-7"/>
          <p:cNvSpPr/>
          <p:nvPr/>
        </p:nvSpPr>
        <p:spPr>
          <a:xfrm>
            <a:off x="5943600" y="2267712"/>
            <a:ext cx="2743200" cy="56692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64592" tIns="164592" rIns="164592" bIns="16459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ACT  </a:t>
            </a:r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run in a sandbox</a:t>
            </a:r>
            <a:endParaRPr lang="en-US" sz="1300" dirty="0"/>
          </a:p>
        </p:txBody>
      </p:sp>
      <p:sp>
        <p:nvSpPr>
          <p:cNvPr id="9" name="box-8"/>
          <p:cNvSpPr/>
          <p:nvPr/>
        </p:nvSpPr>
        <p:spPr>
          <a:xfrm>
            <a:off x="5943600" y="2944368"/>
            <a:ext cx="2743200" cy="566928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164592" tIns="164592" rIns="164592" bIns="16459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OBSERVE  </a:t>
            </a:r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draft an issue</a:t>
            </a:r>
            <a:endParaRPr lang="en-US" sz="1300" dirty="0"/>
          </a:p>
        </p:txBody>
      </p:sp>
      <p:sp>
        <p:nvSpPr>
          <p:cNvPr id="10" name="box-9"/>
          <p:cNvSpPr/>
          <p:nvPr/>
        </p:nvSpPr>
        <p:spPr>
          <a:xfrm>
            <a:off x="5943600" y="3694176"/>
            <a:ext cx="2743200" cy="64008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64592" tIns="164592" rIns="164592" bIns="164592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HUMAN APPROVAL REQUIRED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QA needs a bounded agent</a:t>
            </a:r>
            <a:endParaRPr lang="en-US" sz="3000" dirty="0"/>
          </a:p>
        </p:txBody>
      </p:sp>
      <p:sp>
        <p:nvSpPr>
          <p:cNvPr id="3" name="txt-10"/>
          <p:cNvSpPr txBox="1"/>
          <p:nvPr/>
        </p:nvSpPr>
        <p:spPr>
          <a:xfrm>
            <a:off x="457200" y="1234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xt-11"/>
          <p:cNvSpPr txBox="1"/>
          <p:nvPr/>
        </p:nvSpPr>
        <p:spPr>
          <a:xfrm>
            <a:off x="457200" y="15087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Checking code against natural-language specs is slow, manual 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Unbounded LLM assistants hallucinate requirements and assume unstated behaviour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They write unverified tests, cause uncontrolled side effects, and may modify production code without authorisation</a:t>
            </a:r>
            <a:endParaRPr lang="en-US" sz="1400" dirty="0"/>
          </a:p>
        </p:txBody>
      </p:sp>
      <p:sp>
        <p:nvSpPr>
          <p:cNvPr id="5" name="txt-12"/>
          <p:cNvSpPr txBox="1"/>
          <p:nvPr/>
        </p:nvSpPr>
        <p:spPr>
          <a:xfrm>
            <a:off x="457200" y="3383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TARGET USERS</a:t>
            </a:r>
            <a:endParaRPr lang="en-US" sz="1100" dirty="0"/>
          </a:p>
        </p:txBody>
      </p:sp>
      <p:sp>
        <p:nvSpPr>
          <p:cNvPr id="6" name="txt-13"/>
          <p:cNvSpPr txBox="1"/>
          <p:nvPr/>
        </p:nvSpPr>
        <p:spPr>
          <a:xfrm>
            <a:off x="45720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Software engineers, QA automation engineers and engineering leads who verify pull requests and features against formal acceptance criteria.</a:t>
            </a:r>
            <a:endParaRPr lang="en-US" sz="1400" dirty="0"/>
          </a:p>
        </p:txBody>
      </p:sp>
      <p:sp>
        <p:nvSpPr>
          <p:cNvPr id="7" name="panel-14"/>
          <p:cNvSpPr/>
          <p:nvPr/>
        </p:nvSpPr>
        <p:spPr>
          <a:xfrm>
            <a:off x="4937760" y="1234440"/>
            <a:ext cx="3749040" cy="3337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txt-15"/>
          <p:cNvSpPr txBox="1"/>
          <p:nvPr/>
        </p:nvSpPr>
        <p:spPr>
          <a:xfrm>
            <a:off x="5212080" y="1417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9" name="txt-16"/>
          <p:cNvSpPr txBox="1"/>
          <p:nvPr/>
        </p:nvSpPr>
        <p:spPr>
          <a:xfrm>
            <a:off x="5212080" y="1691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Inspectra takes a query or requirement ID, then:</a:t>
            </a:r>
            <a:endParaRPr lang="en-US" sz="1400" dirty="0"/>
          </a:p>
        </p:txBody>
      </p:sp>
      <p:sp>
        <p:nvSpPr>
          <p:cNvPr id="10" name="box-17"/>
          <p:cNvSpPr/>
          <p:nvPr/>
        </p:nvSpPr>
        <p:spPr>
          <a:xfrm>
            <a:off x="5212080" y="2240280"/>
            <a:ext cx="310896" cy="310896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xt-18"/>
          <p:cNvSpPr txBox="1"/>
          <p:nvPr/>
        </p:nvSpPr>
        <p:spPr>
          <a:xfrm>
            <a:off x="5669280" y="222199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Grounds itself in markdown specs with BM25 retrieval</a:t>
            </a:r>
            <a:endParaRPr lang="en-US" sz="1300" dirty="0"/>
          </a:p>
        </p:txBody>
      </p:sp>
      <p:sp>
        <p:nvSpPr>
          <p:cNvPr id="12" name="box-19"/>
          <p:cNvSpPr/>
          <p:nvPr/>
        </p:nvSpPr>
        <p:spPr>
          <a:xfrm>
            <a:off x="5212080" y="2807208"/>
            <a:ext cx="310896" cy="310896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xt-20"/>
          <p:cNvSpPr txBox="1"/>
          <p:nvPr/>
        </p:nvSpPr>
        <p:spPr>
          <a:xfrm>
            <a:off x="566928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Generates unit and boundary tests for a restricted sandbox</a:t>
            </a:r>
            <a:endParaRPr lang="en-US" sz="1300" dirty="0"/>
          </a:p>
        </p:txBody>
      </p:sp>
      <p:sp>
        <p:nvSpPr>
          <p:cNvPr id="14" name="box-21"/>
          <p:cNvSpPr/>
          <p:nvPr/>
        </p:nvSpPr>
        <p:spPr>
          <a:xfrm>
            <a:off x="5212080" y="3374136"/>
            <a:ext cx="310896" cy="310896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xt-22"/>
          <p:cNvSpPr txBox="1"/>
          <p:nvPr/>
        </p:nvSpPr>
        <p:spPr>
          <a:xfrm>
            <a:off x="5669280" y="335584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Executes them safely</a:t>
            </a:r>
            <a:endParaRPr lang="en-US" sz="1300" dirty="0"/>
          </a:p>
        </p:txBody>
      </p:sp>
      <p:sp>
        <p:nvSpPr>
          <p:cNvPr id="16" name="box-23"/>
          <p:cNvSpPr/>
          <p:nvPr/>
        </p:nvSpPr>
        <p:spPr>
          <a:xfrm>
            <a:off x="5212080" y="3941064"/>
            <a:ext cx="310896" cy="310896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xt-24"/>
          <p:cNvSpPr txBox="1"/>
          <p:nvPr/>
        </p:nvSpPr>
        <p:spPr>
          <a:xfrm>
            <a:off x="5669280" y="392277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Drafts an issue; filing needs human cryptographic approval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box-25"/>
          <p:cNvSpPr/>
          <p:nvPr/>
        </p:nvSpPr>
        <p:spPr>
          <a:xfrm>
            <a:off x="457200" y="1280160"/>
            <a:ext cx="1600200" cy="7315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Operator query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or requirement ID</a:t>
            </a:r>
            <a:endParaRPr lang="en-US" sz="1200" dirty="0"/>
          </a:p>
        </p:txBody>
      </p:sp>
      <p:sp>
        <p:nvSpPr>
          <p:cNvPr id="4" name="box-26"/>
          <p:cNvSpPr/>
          <p:nvPr/>
        </p:nvSpPr>
        <p:spPr>
          <a:xfrm>
            <a:off x="457200" y="2286000"/>
            <a:ext cx="1600200" cy="7315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MCP server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JSON-RPC 2.0, FastAPI</a:t>
            </a:r>
            <a:endParaRPr lang="en-US" sz="1200" dirty="0"/>
          </a:p>
        </p:txBody>
      </p:sp>
      <p:sp>
        <p:nvSpPr>
          <p:cNvPr id="5" name="arrow-27"/>
          <p:cNvSpPr/>
          <p:nvPr/>
        </p:nvSpPr>
        <p:spPr>
          <a:xfrm>
            <a:off x="2057400" y="164592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6" name="arrow-28"/>
          <p:cNvSpPr/>
          <p:nvPr/>
        </p:nvSpPr>
        <p:spPr>
          <a:xfrm>
            <a:off x="2057400" y="265176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core-29"/>
          <p:cNvSpPr/>
          <p:nvPr/>
        </p:nvSpPr>
        <p:spPr>
          <a:xfrm>
            <a:off x="2377440" y="1234440"/>
            <a:ext cx="3108960" cy="2331720"/>
          </a:xfrm>
          <a:prstGeom prst="rect">
            <a:avLst/>
          </a:prstGeom>
          <a:solidFill>
            <a:schemeClr val="bg2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8" name="txt-30"/>
          <p:cNvSpPr txBox="1"/>
          <p:nvPr/>
        </p:nvSpPr>
        <p:spPr>
          <a:xfrm>
            <a:off x="2514600" y="1307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BOUNDED AGENT LOOP  |  LangGraph StateGraph</a:t>
            </a:r>
            <a:endParaRPr lang="en-US" sz="1000" dirty="0"/>
          </a:p>
        </p:txBody>
      </p:sp>
      <p:sp>
        <p:nvSpPr>
          <p:cNvPr id="9" name="box-31"/>
          <p:cNvSpPr/>
          <p:nvPr/>
        </p:nvSpPr>
        <p:spPr>
          <a:xfrm>
            <a:off x="2514600" y="1627632"/>
            <a:ext cx="1371600" cy="7772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64008" tIns="64008" rIns="64008" bIns="640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Sense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search_requirements</a:t>
            </a:r>
            <a:endParaRPr lang="en-US" sz="1300" dirty="0"/>
          </a:p>
        </p:txBody>
      </p:sp>
      <p:sp>
        <p:nvSpPr>
          <p:cNvPr id="10" name="box-32"/>
          <p:cNvSpPr/>
          <p:nvPr/>
        </p:nvSpPr>
        <p:spPr>
          <a:xfrm>
            <a:off x="3977640" y="1627632"/>
            <a:ext cx="1371600" cy="7772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64008" tIns="64008" rIns="64008" bIns="640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Plan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propose_tests</a:t>
            </a:r>
            <a:endParaRPr lang="en-US" sz="1300" dirty="0"/>
          </a:p>
        </p:txBody>
      </p:sp>
      <p:sp>
        <p:nvSpPr>
          <p:cNvPr id="11" name="box-33"/>
          <p:cNvSpPr/>
          <p:nvPr/>
        </p:nvSpPr>
        <p:spPr>
          <a:xfrm>
            <a:off x="2514600" y="2542032"/>
            <a:ext cx="1371600" cy="7772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64008" tIns="64008" rIns="64008" bIns="640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Act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run_tests</a:t>
            </a:r>
            <a:endParaRPr lang="en-US" sz="1300" dirty="0"/>
          </a:p>
        </p:txBody>
      </p:sp>
      <p:sp>
        <p:nvSpPr>
          <p:cNvPr id="12" name="box-34"/>
          <p:cNvSpPr/>
          <p:nvPr/>
        </p:nvSpPr>
        <p:spPr>
          <a:xfrm>
            <a:off x="3977640" y="2542032"/>
            <a:ext cx="1371600" cy="7772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64008" tIns="64008" rIns="64008" bIns="6400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Observe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draft_issue</a:t>
            </a:r>
            <a:endParaRPr lang="en-US" sz="1300" dirty="0"/>
          </a:p>
        </p:txBody>
      </p:sp>
      <p:sp>
        <p:nvSpPr>
          <p:cNvPr id="13" name="box-35"/>
          <p:cNvSpPr/>
          <p:nvPr/>
        </p:nvSpPr>
        <p:spPr>
          <a:xfrm>
            <a:off x="5852160" y="1234440"/>
            <a:ext cx="283464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Gemini Flash client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ScriptedLLM for offline mode</a:t>
            </a:r>
            <a:endParaRPr lang="en-US" sz="1200" dirty="0"/>
          </a:p>
        </p:txBody>
      </p:sp>
      <p:sp>
        <p:nvSpPr>
          <p:cNvPr id="14" name="arrow-36"/>
          <p:cNvSpPr/>
          <p:nvPr/>
        </p:nvSpPr>
        <p:spPr>
          <a:xfrm>
            <a:off x="5486400" y="1499616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box-37"/>
          <p:cNvSpPr/>
          <p:nvPr/>
        </p:nvSpPr>
        <p:spPr>
          <a:xfrm>
            <a:off x="5852160" y="1837944"/>
            <a:ext cx="283464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BM25 retriever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docs/requirements/</a:t>
            </a:r>
            <a:endParaRPr lang="en-US" sz="1200" dirty="0"/>
          </a:p>
        </p:txBody>
      </p:sp>
      <p:sp>
        <p:nvSpPr>
          <p:cNvPr id="16" name="arrow-38"/>
          <p:cNvSpPr/>
          <p:nvPr/>
        </p:nvSpPr>
        <p:spPr>
          <a:xfrm>
            <a:off x="5486400" y="2103120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box-39"/>
          <p:cNvSpPr/>
          <p:nvPr/>
        </p:nvSpPr>
        <p:spPr>
          <a:xfrm>
            <a:off x="5852160" y="2441448"/>
            <a:ext cx="283464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Sandbox runner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timeout, import allow-list</a:t>
            </a:r>
            <a:endParaRPr lang="en-US" sz="1200" dirty="0"/>
          </a:p>
        </p:txBody>
      </p:sp>
      <p:sp>
        <p:nvSpPr>
          <p:cNvPr id="18" name="arrow-40"/>
          <p:cNvSpPr/>
          <p:nvPr/>
        </p:nvSpPr>
        <p:spPr>
          <a:xfrm>
            <a:off x="5486400" y="2706624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box-41"/>
          <p:cNvSpPr/>
          <p:nvPr/>
        </p:nvSpPr>
        <p:spPr>
          <a:xfrm>
            <a:off x="5852160" y="3044952"/>
            <a:ext cx="2834640" cy="53035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System under test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subscription service + ledger</a:t>
            </a:r>
            <a:endParaRPr lang="en-US" sz="1200" dirty="0"/>
          </a:p>
        </p:txBody>
      </p:sp>
      <p:sp>
        <p:nvSpPr>
          <p:cNvPr id="20" name="arrow-42"/>
          <p:cNvSpPr/>
          <p:nvPr/>
        </p:nvSpPr>
        <p:spPr>
          <a:xfrm>
            <a:off x="5486400" y="3310128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rrow-43"/>
          <p:cNvSpPr/>
          <p:nvPr/>
        </p:nvSpPr>
        <p:spPr>
          <a:xfrm>
            <a:off x="3931920" y="3566160"/>
            <a:ext cx="0" cy="2743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box-44"/>
          <p:cNvSpPr/>
          <p:nvPr/>
        </p:nvSpPr>
        <p:spPr>
          <a:xfrm>
            <a:off x="2377440" y="3840480"/>
            <a:ext cx="3108960" cy="731520"/>
          </a:xfrm>
          <a:prstGeom prst="rect">
            <a:avLst/>
          </a:prstGeom>
          <a:solidFill>
            <a:schemeClr val="accent1">
              <a:alpha val="20000"/>
            </a:schemeClr>
          </a:solidFill>
          <a:ln w="22225">
            <a:solidFill>
              <a:schemeClr val="accent1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Human approval gate</a:t>
            </a: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HMAC-SHA256 single-use token before file_issue and save_test_to_suite</a:t>
            </a:r>
            <a:endParaRPr lang="en-US" sz="1300" dirty="0"/>
          </a:p>
        </p:txBody>
      </p:sp>
      <p:sp>
        <p:nvSpPr>
          <p:cNvPr id="23" name="box-45"/>
          <p:cNvSpPr/>
          <p:nvPr/>
        </p:nvSpPr>
        <p:spPr>
          <a:xfrm>
            <a:off x="5852160" y="3840480"/>
            <a:ext cx="2834640" cy="7315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Case history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advisory for the human only; never shown to the LLM</a:t>
            </a:r>
            <a:endParaRPr lang="en-US" sz="1200" dirty="0"/>
          </a:p>
        </p:txBody>
      </p:sp>
      <p:sp>
        <p:nvSpPr>
          <p:cNvPr id="24" name="box-46"/>
          <p:cNvSpPr/>
          <p:nvPr/>
        </p:nvSpPr>
        <p:spPr>
          <a:xfrm>
            <a:off x="457200" y="3840480"/>
            <a:ext cx="1600200" cy="73152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Evidence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traces, drafts, filed issues</a:t>
            </a:r>
            <a:endParaRPr lang="en-US" sz="1200" dirty="0"/>
          </a:p>
        </p:txBody>
      </p:sp>
      <p:sp>
        <p:nvSpPr>
          <p:cNvPr id="25" name="arrow-47"/>
          <p:cNvSpPr/>
          <p:nvPr/>
        </p:nvSpPr>
        <p:spPr>
          <a:xfrm flipH="1">
            <a:off x="2057400" y="420624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arrow-48"/>
          <p:cNvSpPr/>
          <p:nvPr/>
        </p:nvSpPr>
        <p:spPr>
          <a:xfrm flipH="1">
            <a:off x="5486400" y="4206240"/>
            <a:ext cx="3657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foundation model to bounded agent</a:t>
            </a:r>
            <a:endParaRPr lang="en-US" sz="3000" dirty="0"/>
          </a:p>
        </p:txBody>
      </p:sp>
      <p:sp>
        <p:nvSpPr>
          <p:cNvPr id="3" name="step-49"/>
          <p:cNvSpPr/>
          <p:nvPr/>
        </p:nvSpPr>
        <p:spPr>
          <a:xfrm>
            <a:off x="457200" y="2194560"/>
            <a:ext cx="1920240" cy="2377440"/>
          </a:xfrm>
          <a:prstGeom prst="rect">
            <a:avLst/>
          </a:prstGeom>
          <a:solidFill>
            <a:srgbClr val="9AA5B1"/>
          </a:solidFill>
          <a:ln/>
        </p:spPr>
      </p:sp>
      <p:sp>
        <p:nvSpPr>
          <p:cNvPr id="4" name="txt-50"/>
          <p:cNvSpPr txBox="1"/>
          <p:nvPr/>
        </p:nvSpPr>
        <p:spPr>
          <a:xfrm>
            <a:off x="594360" y="23317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WEEK 2</a:t>
            </a:r>
            <a:endParaRPr lang="en-US" sz="1000" dirty="0"/>
          </a:p>
        </p:txBody>
      </p:sp>
      <p:sp>
        <p:nvSpPr>
          <p:cNvPr id="5" name="txt-51"/>
          <p:cNvSpPr txBox="1"/>
          <p:nvPr/>
        </p:nvSpPr>
        <p:spPr>
          <a:xfrm>
            <a:off x="594360" y="25603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</a:t>
            </a:r>
            <a:endParaRPr lang="en-US" sz="1400" dirty="0"/>
          </a:p>
        </p:txBody>
      </p:sp>
      <p:sp>
        <p:nvSpPr>
          <p:cNvPr id="6" name="txt-52"/>
          <p:cNvSpPr txBox="1"/>
          <p:nvPr/>
        </p:nvSpPr>
        <p:spPr>
          <a:xfrm>
            <a:off x="594360" y="297180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Raw Gemini prompting. Hallucinated unstated behaviour and assumed developer defaults over the spec.</a:t>
            </a:r>
            <a:endParaRPr lang="en-US" sz="1200" dirty="0"/>
          </a:p>
        </p:txBody>
      </p:sp>
      <p:sp>
        <p:nvSpPr>
          <p:cNvPr id="7" name="step-53"/>
          <p:cNvSpPr/>
          <p:nvPr/>
        </p:nvSpPr>
        <p:spPr>
          <a:xfrm>
            <a:off x="2514600" y="1828800"/>
            <a:ext cx="1920240" cy="2743200"/>
          </a:xfrm>
          <a:prstGeom prst="rect">
            <a:avLst/>
          </a:prstGeom>
          <a:solidFill>
            <a:srgbClr val="5F6B78"/>
          </a:solidFill>
          <a:ln/>
        </p:spPr>
      </p:sp>
      <p:sp>
        <p:nvSpPr>
          <p:cNvPr id="8" name="txt-54"/>
          <p:cNvSpPr txBox="1"/>
          <p:nvPr/>
        </p:nvSpPr>
        <p:spPr>
          <a:xfrm>
            <a:off x="2651760" y="19659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WEEK 3</a:t>
            </a:r>
            <a:endParaRPr lang="en-US" sz="1000" dirty="0"/>
          </a:p>
        </p:txBody>
      </p:sp>
      <p:sp>
        <p:nvSpPr>
          <p:cNvPr id="9" name="txt-55"/>
          <p:cNvSpPr txBox="1"/>
          <p:nvPr/>
        </p:nvSpPr>
        <p:spPr>
          <a:xfrm>
            <a:off x="2651760" y="21945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Retrieval (RAG)</a:t>
            </a:r>
            <a:endParaRPr lang="en-US" sz="1400" dirty="0"/>
          </a:p>
        </p:txBody>
      </p:sp>
      <p:sp>
        <p:nvSpPr>
          <p:cNvPr id="10" name="txt-56"/>
          <p:cNvSpPr txBox="1"/>
          <p:nvPr/>
        </p:nvSpPr>
        <p:spPr>
          <a:xfrm>
            <a:off x="2651760" y="2606040"/>
            <a:ext cx="1645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BM25 over chunked requirements. Prompts carry acceptance criteria; out-of-scope queries are refused.</a:t>
            </a:r>
            <a:endParaRPr lang="en-US" sz="1200" dirty="0"/>
          </a:p>
        </p:txBody>
      </p:sp>
      <p:sp>
        <p:nvSpPr>
          <p:cNvPr id="11" name="step-57"/>
          <p:cNvSpPr/>
          <p:nvPr/>
        </p:nvSpPr>
        <p:spPr>
          <a:xfrm>
            <a:off x="4572000" y="1554480"/>
            <a:ext cx="1920240" cy="3017520"/>
          </a:xfrm>
          <a:prstGeom prst="rect">
            <a:avLst/>
          </a:prstGeom>
          <a:solidFill>
            <a:srgbClr val="3F6C8F"/>
          </a:solidFill>
          <a:ln/>
        </p:spPr>
      </p:sp>
      <p:sp>
        <p:nvSpPr>
          <p:cNvPr id="12" name="txt-58"/>
          <p:cNvSpPr txBox="1"/>
          <p:nvPr/>
        </p:nvSpPr>
        <p:spPr>
          <a:xfrm>
            <a:off x="47091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WEEK 4</a:t>
            </a:r>
            <a:endParaRPr lang="en-US" sz="1000" dirty="0"/>
          </a:p>
        </p:txBody>
      </p:sp>
      <p:sp>
        <p:nvSpPr>
          <p:cNvPr id="13" name="txt-59"/>
          <p:cNvSpPr txBox="1"/>
          <p:nvPr/>
        </p:nvSpPr>
        <p:spPr>
          <a:xfrm>
            <a:off x="4709160" y="1920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Tools</a:t>
            </a:r>
            <a:endParaRPr lang="en-US" sz="1400" dirty="0"/>
          </a:p>
        </p:txBody>
      </p:sp>
      <p:sp>
        <p:nvSpPr>
          <p:cNvPr id="14" name="txt-60"/>
          <p:cNvSpPr txBox="1"/>
          <p:nvPr/>
        </p:nvSpPr>
        <p:spPr>
          <a:xfrm>
            <a:off x="4709160" y="23317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Six LangChain tools with simulated side effects. HMAC approval intercepts high-impact calls.</a:t>
            </a:r>
            <a:endParaRPr lang="en-US" sz="1200" dirty="0"/>
          </a:p>
        </p:txBody>
      </p:sp>
      <p:sp>
        <p:nvSpPr>
          <p:cNvPr id="15" name="step-61"/>
          <p:cNvSpPr/>
          <p:nvPr/>
        </p:nvSpPr>
        <p:spPr>
          <a:xfrm>
            <a:off x="6629400" y="1188720"/>
            <a:ext cx="1920240" cy="3383280"/>
          </a:xfrm>
          <a:prstGeom prst="rect">
            <a:avLst/>
          </a:prstGeom>
          <a:solidFill>
            <a:srgbClr val="17202A"/>
          </a:solidFill>
          <a:ln/>
        </p:spPr>
      </p:sp>
      <p:sp>
        <p:nvSpPr>
          <p:cNvPr id="16" name="txt-62"/>
          <p:cNvSpPr txBox="1"/>
          <p:nvPr/>
        </p:nvSpPr>
        <p:spPr>
          <a:xfrm>
            <a:off x="6766560" y="1325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WEEKS 5-7</a:t>
            </a:r>
            <a:endParaRPr lang="en-US" sz="1000" dirty="0"/>
          </a:p>
        </p:txBody>
      </p:sp>
      <p:sp>
        <p:nvSpPr>
          <p:cNvPr id="17" name="txt-63"/>
          <p:cNvSpPr txBox="1"/>
          <p:nvPr/>
        </p:nvSpPr>
        <p:spPr>
          <a:xfrm>
            <a:off x="6766560" y="1554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 agent</a:t>
            </a:r>
            <a:endParaRPr lang="en-US" sz="1400" dirty="0"/>
          </a:p>
        </p:txBody>
      </p:sp>
      <p:sp>
        <p:nvSpPr>
          <p:cNvPr id="18" name="txt-64"/>
          <p:cNvSpPr txBox="1"/>
          <p:nvPr/>
        </p:nvSpPr>
        <p:spPr>
          <a:xfrm>
            <a:off x="6766560" y="196596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LangGraph state machine with phase guards, MAX_HOPS = 7, file pinning and persistent case history.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Demo: REQ-2.1 tier upgrade</a:t>
            </a:r>
            <a:endParaRPr lang="en-US" sz="3000" dirty="0"/>
          </a:p>
        </p:txBody>
      </p:sp>
      <p:sp>
        <p:nvSpPr>
          <p:cNvPr id="3" name="box-65"/>
          <p:cNvSpPr/>
          <p:nvPr/>
        </p:nvSpPr>
        <p:spPr>
          <a:xfrm>
            <a:off x="457200" y="1234440"/>
            <a:ext cx="1280160" cy="7315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  Prompt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Check REQ-2.1</a:t>
            </a:r>
            <a:endParaRPr lang="en-US" sz="1200" dirty="0"/>
          </a:p>
        </p:txBody>
      </p:sp>
      <p:sp>
        <p:nvSpPr>
          <p:cNvPr id="4" name="box-66"/>
          <p:cNvSpPr/>
          <p:nvPr/>
        </p:nvSpPr>
        <p:spPr>
          <a:xfrm>
            <a:off x="1847088" y="1234440"/>
            <a:ext cx="1280160" cy="7315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  Retrieve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BM25: Section 2.1</a:t>
            </a:r>
            <a:endParaRPr lang="en-US" sz="1200" dirty="0"/>
          </a:p>
        </p:txBody>
      </p:sp>
      <p:sp>
        <p:nvSpPr>
          <p:cNvPr id="5" name="box-67"/>
          <p:cNvSpPr/>
          <p:nvPr/>
        </p:nvSpPr>
        <p:spPr>
          <a:xfrm>
            <a:off x="3236976" y="1234440"/>
            <a:ext cx="1280160" cy="7315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  Propose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propose_tests</a:t>
            </a:r>
            <a:endParaRPr lang="en-US" sz="1200" dirty="0"/>
          </a:p>
        </p:txBody>
      </p:sp>
      <p:sp>
        <p:nvSpPr>
          <p:cNvPr id="6" name="box-68"/>
          <p:cNvSpPr/>
          <p:nvPr/>
        </p:nvSpPr>
        <p:spPr>
          <a:xfrm>
            <a:off x="4626864" y="1234440"/>
            <a:ext cx="1280160" cy="73152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  Run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run_tests: FAIL</a:t>
            </a:r>
            <a:endParaRPr lang="en-US" sz="1200" dirty="0"/>
          </a:p>
        </p:txBody>
      </p:sp>
      <p:sp>
        <p:nvSpPr>
          <p:cNvPr id="7" name="box-69"/>
          <p:cNvSpPr/>
          <p:nvPr/>
        </p:nvSpPr>
        <p:spPr>
          <a:xfrm>
            <a:off x="6016752" y="1234440"/>
            <a:ext cx="1280160" cy="73152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  Draft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draft_issue</a:t>
            </a:r>
            <a:endParaRPr lang="en-US" sz="1200" dirty="0"/>
          </a:p>
        </p:txBody>
      </p:sp>
      <p:sp>
        <p:nvSpPr>
          <p:cNvPr id="8" name="box-70"/>
          <p:cNvSpPr/>
          <p:nvPr/>
        </p:nvSpPr>
        <p:spPr>
          <a:xfrm>
            <a:off x="7406640" y="1234440"/>
            <a:ext cx="128016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  Approve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file_issue: [y/N]</a:t>
            </a:r>
            <a:endParaRPr lang="en-US" sz="1200" dirty="0"/>
          </a:p>
        </p:txBody>
      </p:sp>
      <p:sp>
        <p:nvSpPr>
          <p:cNvPr id="9" name="txt-71"/>
          <p:cNvSpPr txBox="1"/>
          <p:nvPr/>
        </p:nvSpPr>
        <p:spPr>
          <a:xfrm>
            <a:off x="45720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EXPECTED (SPEC)</a:t>
            </a:r>
            <a:endParaRPr lang="en-US" sz="1100" dirty="0"/>
          </a:p>
        </p:txBody>
      </p:sp>
      <p:sp>
        <p:nvSpPr>
          <p:cNvPr id="10" name="txt-72"/>
          <p:cNvSpPr txBox="1"/>
          <p:nvPr/>
        </p:nvSpPr>
        <p:spPr>
          <a:xfrm>
            <a:off x="457200" y="2560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≥ $50.00</a:t>
            </a:r>
            <a:endParaRPr lang="en-US" sz="2800" dirty="0"/>
          </a:p>
        </p:txBody>
      </p:sp>
      <p:sp>
        <p:nvSpPr>
          <p:cNvPr id="11" name="txt-73"/>
          <p:cNvSpPr txBox="1"/>
          <p:nvPr/>
        </p:nvSpPr>
        <p:spPr>
          <a:xfrm>
            <a:off x="457200" y="3154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upgrades the account to PREMIUM and deducts $50.00</a:t>
            </a:r>
            <a:endParaRPr lang="en-US" sz="1400" dirty="0"/>
          </a:p>
        </p:txBody>
      </p:sp>
      <p:sp>
        <p:nvSpPr>
          <p:cNvPr id="12" name="txt-74"/>
          <p:cNvSpPr txBox="1"/>
          <p:nvPr/>
        </p:nvSpPr>
        <p:spPr>
          <a:xfrm>
            <a:off x="4846320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OBSERVED (PLANTED BUG)</a:t>
            </a:r>
            <a:endParaRPr lang="en-US" sz="1100" dirty="0"/>
          </a:p>
        </p:txBody>
      </p:sp>
      <p:sp>
        <p:nvSpPr>
          <p:cNvPr id="13" name="txt-75"/>
          <p:cNvSpPr txBox="1"/>
          <p:nvPr/>
        </p:nvSpPr>
        <p:spPr>
          <a:xfrm>
            <a:off x="4846320" y="2560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&lt;= 50.00</a:t>
            </a:r>
            <a:endParaRPr lang="en-US" sz="2400" dirty="0"/>
          </a:p>
        </p:txBody>
      </p:sp>
      <p:sp>
        <p:nvSpPr>
          <p:cNvPr id="14" name="txt-76"/>
          <p:cNvSpPr txBox="1"/>
          <p:nvPr/>
        </p:nvSpPr>
        <p:spPr>
          <a:xfrm>
            <a:off x="4846320" y="3154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boundary test with balance == 50.00 fails with InsufficientFundsError</a:t>
            </a:r>
            <a:endParaRPr lang="en-US" sz="1400" dirty="0"/>
          </a:p>
        </p:txBody>
      </p:sp>
      <p:sp>
        <p:nvSpPr>
          <p:cNvPr id="15" name="box-77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chemeClr val="tx1"/>
          </a:solidFill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demo/run_demo.py --planted-bug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State machine and hard limits</a:t>
            </a:r>
            <a:endParaRPr lang="en-US" sz="3000" dirty="0"/>
          </a:p>
        </p:txBody>
      </p:sp>
      <p:sp>
        <p:nvSpPr>
          <p:cNvPr id="3" name="box-78"/>
          <p:cNvSpPr/>
          <p:nvPr/>
        </p:nvSpPr>
        <p:spPr>
          <a:xfrm>
            <a:off x="457200" y="1280160"/>
            <a:ext cx="1554480" cy="64008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000" dirty="0"/>
          </a:p>
        </p:txBody>
      </p:sp>
      <p:sp>
        <p:nvSpPr>
          <p:cNvPr id="4" name="box-79"/>
          <p:cNvSpPr/>
          <p:nvPr/>
        </p:nvSpPr>
        <p:spPr>
          <a:xfrm>
            <a:off x="2331720" y="1280160"/>
            <a:ext cx="1554480" cy="64008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RESOLVED</a:t>
            </a:r>
            <a:endParaRPr lang="en-US" sz="1000" dirty="0"/>
          </a:p>
        </p:txBody>
      </p:sp>
      <p:sp>
        <p:nvSpPr>
          <p:cNvPr id="5" name="box-80"/>
          <p:cNvSpPr/>
          <p:nvPr/>
        </p:nvSpPr>
        <p:spPr>
          <a:xfrm>
            <a:off x="4206240" y="1280160"/>
            <a:ext cx="1554480" cy="64008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</a:t>
            </a:r>
            <a:endParaRPr lang="en-US" sz="1000" dirty="0"/>
          </a:p>
        </p:txBody>
      </p:sp>
      <p:sp>
        <p:nvSpPr>
          <p:cNvPr id="6" name="arrow-81"/>
          <p:cNvSpPr/>
          <p:nvPr/>
        </p:nvSpPr>
        <p:spPr>
          <a:xfrm>
            <a:off x="2011680" y="160020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arrow-82"/>
          <p:cNvSpPr/>
          <p:nvPr/>
        </p:nvSpPr>
        <p:spPr>
          <a:xfrm>
            <a:off x="3886200" y="160020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arrow-83"/>
          <p:cNvSpPr/>
          <p:nvPr/>
        </p:nvSpPr>
        <p:spPr>
          <a:xfrm>
            <a:off x="4983480" y="1920240"/>
            <a:ext cx="0" cy="4572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box-84"/>
          <p:cNvSpPr/>
          <p:nvPr/>
        </p:nvSpPr>
        <p:spPr>
          <a:xfrm>
            <a:off x="4206240" y="2377440"/>
            <a:ext cx="1554480" cy="64008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TESTS_RUN_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 | FAILED</a:t>
            </a:r>
            <a:endParaRPr lang="en-US" sz="1000" dirty="0"/>
          </a:p>
        </p:txBody>
      </p:sp>
      <p:sp>
        <p:nvSpPr>
          <p:cNvPr id="10" name="box-85"/>
          <p:cNvSpPr/>
          <p:nvPr/>
        </p:nvSpPr>
        <p:spPr>
          <a:xfrm>
            <a:off x="2331720" y="2377440"/>
            <a:ext cx="1554480" cy="64008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DRAFTED</a:t>
            </a:r>
            <a:endParaRPr lang="en-US" sz="1000" dirty="0"/>
          </a:p>
        </p:txBody>
      </p:sp>
      <p:sp>
        <p:nvSpPr>
          <p:cNvPr id="11" name="box-86"/>
          <p:cNvSpPr/>
          <p:nvPr/>
        </p:nvSpPr>
        <p:spPr>
          <a:xfrm>
            <a:off x="457200" y="2377440"/>
            <a:ext cx="1554480" cy="64008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000" dirty="0"/>
          </a:p>
        </p:txBody>
      </p:sp>
      <p:sp>
        <p:nvSpPr>
          <p:cNvPr id="12" name="arrow-87"/>
          <p:cNvSpPr/>
          <p:nvPr/>
        </p:nvSpPr>
        <p:spPr>
          <a:xfrm flipH="1">
            <a:off x="3886200" y="269748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arrow-88"/>
          <p:cNvSpPr/>
          <p:nvPr/>
        </p:nvSpPr>
        <p:spPr>
          <a:xfrm flipH="1">
            <a:off x="2011680" y="2697480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box-89"/>
          <p:cNvSpPr/>
          <p:nvPr/>
        </p:nvSpPr>
        <p:spPr>
          <a:xfrm>
            <a:off x="457200" y="3520440"/>
            <a:ext cx="5303520" cy="777240"/>
          </a:xfrm>
          <a:prstGeom prst="rect">
            <a:avLst/>
          </a:prstGeom>
          <a:solidFill>
            <a:schemeClr val="accent3">
              <a:alpha val="15000"/>
            </a:schemeClr>
          </a:solidFill>
          <a:ln w="15875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STOPPED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reached on human_rejection, hop_budget_exhausted</a:t>
            </a:r>
            <a:endParaRPr lang="en-US" sz="1200" dirty="0"/>
          </a:p>
        </p:txBody>
      </p:sp>
      <p:sp>
        <p:nvSpPr>
          <p:cNvPr id="15" name="txt-90"/>
          <p:cNvSpPr txBox="1"/>
          <p:nvPr/>
        </p:nvSpPr>
        <p:spPr>
          <a:xfrm>
            <a:off x="6126480" y="128016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16" name="txt-91"/>
          <p:cNvSpPr txBox="1"/>
          <p:nvPr/>
        </p:nvSpPr>
        <p:spPr>
          <a:xfrm>
            <a:off x="7132320" y="1280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MAX_HOPS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hard cap on loop iterations</a:t>
            </a:r>
            <a:endParaRPr lang="en-US" sz="1100" dirty="0"/>
          </a:p>
        </p:txBody>
      </p:sp>
      <p:sp>
        <p:nvSpPr>
          <p:cNvPr id="17" name="txt-92"/>
          <p:cNvSpPr txBox="1"/>
          <p:nvPr/>
        </p:nvSpPr>
        <p:spPr>
          <a:xfrm>
            <a:off x="6126480" y="21031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xt-93"/>
          <p:cNvSpPr txBox="1"/>
          <p:nvPr/>
        </p:nvSpPr>
        <p:spPr>
          <a:xfrm>
            <a:off x="7132320" y="21031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MAX_CALLS_PER_STEP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parallel tool calls</a:t>
            </a:r>
            <a:endParaRPr lang="en-US" sz="1100" dirty="0"/>
          </a:p>
        </p:txBody>
      </p:sp>
      <p:sp>
        <p:nvSpPr>
          <p:cNvPr id="19" name="txt-94"/>
          <p:cNvSpPr txBox="1"/>
          <p:nvPr/>
        </p:nvSpPr>
        <p:spPr>
          <a:xfrm>
            <a:off x="6126480" y="292608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Pinned</a:t>
            </a:r>
            <a:endParaRPr lang="en-US" sz="2000" dirty="0"/>
          </a:p>
        </p:txBody>
      </p:sp>
      <p:sp>
        <p:nvSpPr>
          <p:cNvPr id="20" name="txt-95"/>
          <p:cNvSpPr txBox="1"/>
          <p:nvPr/>
        </p:nvSpPr>
        <p:spPr>
          <a:xfrm>
            <a:off x="7132320" y="29260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file scope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only this run's test_file and draft_path</a:t>
            </a:r>
            <a:endParaRPr lang="en-US" sz="1100" dirty="0"/>
          </a:p>
        </p:txBody>
      </p:sp>
      <p:sp>
        <p:nvSpPr>
          <p:cNvPr id="21" name="txt-96"/>
          <p:cNvSpPr txBox="1"/>
          <p:nvPr/>
        </p:nvSpPr>
        <p:spPr>
          <a:xfrm>
            <a:off x="6126480" y="37490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</a:t>
            </a:r>
            <a:endParaRPr lang="en-US" sz="2000" dirty="0"/>
          </a:p>
        </p:txBody>
      </p:sp>
      <p:sp>
        <p:nvSpPr>
          <p:cNvPr id="22" name="txt-97"/>
          <p:cNvSpPr txBox="1"/>
          <p:nvPr/>
        </p:nvSpPr>
        <p:spPr>
          <a:xfrm>
            <a:off x="7132320" y="37490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tools by phase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file_issue is forbidden before an issue is drafted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Human approval gate</a:t>
            </a:r>
            <a:endParaRPr lang="en-US" sz="3000" dirty="0"/>
          </a:p>
        </p:txBody>
      </p:sp>
      <p:sp>
        <p:nvSpPr>
          <p:cNvPr id="3" name="box-98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solidFill>
            <a:schemeClr val="accent1">
              <a:alpha val="20000"/>
            </a:schemeClr>
          </a:solidFill>
          <a:ln w="22225">
            <a:solidFill>
              <a:schemeClr val="accent1"/>
            </a:solidFill>
          </a:ln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Agent attempts file_issue(...)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Orchestrator intercepts, shows the [CASE HISTORY] advisory, then asks:  Authorize this action? [y/N]</a:t>
            </a:r>
            <a:endParaRPr lang="en-US" sz="1500" dirty="0"/>
          </a:p>
        </p:txBody>
      </p:sp>
      <p:sp>
        <p:nvSpPr>
          <p:cNvPr id="4" name="arrow-99"/>
          <p:cNvSpPr/>
          <p:nvPr/>
        </p:nvSpPr>
        <p:spPr>
          <a:xfrm>
            <a:off x="2743200" y="2011680"/>
            <a:ext cx="0" cy="3200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" name="arrow-100"/>
          <p:cNvSpPr/>
          <p:nvPr/>
        </p:nvSpPr>
        <p:spPr>
          <a:xfrm>
            <a:off x="6400800" y="2011680"/>
            <a:ext cx="0" cy="3200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6" name="approve-101"/>
          <p:cNvSpPr/>
          <p:nvPr/>
        </p:nvSpPr>
        <p:spPr>
          <a:xfrm>
            <a:off x="457200" y="2331720"/>
            <a:ext cx="4023360" cy="2240280"/>
          </a:xfrm>
          <a:prstGeom prst="rect">
            <a:avLst/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7" name="txt-102"/>
          <p:cNvSpPr txBox="1"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  APPROVE</a:t>
            </a:r>
            <a:endParaRPr lang="en-US" sz="1600" dirty="0"/>
          </a:p>
        </p:txBody>
      </p:sp>
      <p:sp>
        <p:nvSpPr>
          <p:cNvPr id="8" name="txt-103"/>
          <p:cNvSpPr txBox="1"/>
          <p:nvPr/>
        </p:nvSpPr>
        <p:spPr>
          <a:xfrm>
            <a:off x="640080" y="28346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Signed HMAC token is verified and consumed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Issue moves to evidence/issues/filed/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Agent returns a final summary</a:t>
            </a:r>
            <a:endParaRPr lang="en-US" sz="1300" dirty="0"/>
          </a:p>
        </p:txBody>
      </p:sp>
      <p:sp>
        <p:nvSpPr>
          <p:cNvPr id="9" name="txt-104"/>
          <p:cNvSpPr txBox="1"/>
          <p:nvPr/>
        </p:nvSpPr>
        <p:spPr>
          <a:xfrm>
            <a:off x="64008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Phase: DONE</a:t>
            </a:r>
            <a:endParaRPr lang="en-US" sz="1200" dirty="0"/>
          </a:p>
        </p:txBody>
      </p:sp>
      <p:sp>
        <p:nvSpPr>
          <p:cNvPr id="10" name="reject-105"/>
          <p:cNvSpPr/>
          <p:nvPr/>
        </p:nvSpPr>
        <p:spPr>
          <a:xfrm>
            <a:off x="4663440" y="2331720"/>
            <a:ext cx="4023360" cy="2240280"/>
          </a:xfrm>
          <a:prstGeom prst="rect">
            <a:avLst/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1" name="txt-106"/>
          <p:cNvSpPr txBox="1"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  REJECT</a:t>
            </a:r>
            <a:endParaRPr lang="en-US" sz="1600" dirty="0"/>
          </a:p>
        </p:txBody>
      </p:sp>
      <p:sp>
        <p:nvSpPr>
          <p:cNvPr id="12" name="txt-107"/>
          <p:cNvSpPr txBox="1"/>
          <p:nvPr/>
        </p:nvSpPr>
        <p:spPr>
          <a:xfrm>
            <a:off x="4846320" y="28346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Returns (False, None, "Action rejected by human operator.")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Tool result status: approval_required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Draft stays in drafts/; nothing is filed</a:t>
            </a:r>
            <a:endParaRPr lang="en-US" sz="1300" dirty="0"/>
          </a:p>
        </p:txBody>
      </p:sp>
      <p:sp>
        <p:nvSpPr>
          <p:cNvPr id="13" name="txt-108"/>
          <p:cNvSpPr txBox="1"/>
          <p:nvPr/>
        </p:nvSpPr>
        <p:spPr>
          <a:xfrm>
            <a:off x="48463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Phase: STOPPED  |  human_rejection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Six layers of control</a:t>
            </a:r>
            <a:endParaRPr lang="en-US" sz="3000" dirty="0"/>
          </a:p>
        </p:txBody>
      </p:sp>
      <p:sp>
        <p:nvSpPr>
          <p:cNvPr id="3" name="txt-109"/>
          <p:cNvSpPr txBox="1"/>
          <p:nvPr/>
        </p:nvSpPr>
        <p:spPr>
          <a:xfrm>
            <a:off x="457200" y="1234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4" name="txt-110"/>
          <p:cNvSpPr txBox="1"/>
          <p:nvPr/>
        </p:nvSpPr>
        <p:spPr>
          <a:xfrm>
            <a:off x="1097280" y="1252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Sandbox isolation</a:t>
            </a:r>
            <a:endParaRPr lang="en-US" sz="1400" dirty="0"/>
          </a:p>
        </p:txBody>
      </p:sp>
      <p:sp>
        <p:nvSpPr>
          <p:cNvPr id="5" name="txt-111"/>
          <p:cNvSpPr txBox="1"/>
          <p:nvPr/>
        </p:nvSpPr>
        <p:spPr>
          <a:xfrm>
            <a:off x="1097280" y="15453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Subprocess runner with timeouts, an import allow-list (no subprocess, socket, eval, exec) and path sandboxing.</a:t>
            </a:r>
            <a:endParaRPr lang="en-US" sz="1200" dirty="0"/>
          </a:p>
        </p:txBody>
      </p:sp>
      <p:sp>
        <p:nvSpPr>
          <p:cNvPr id="6" name="txt-112"/>
          <p:cNvSpPr txBox="1"/>
          <p:nvPr/>
        </p:nvSpPr>
        <p:spPr>
          <a:xfrm>
            <a:off x="4709160" y="1234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xt-113"/>
          <p:cNvSpPr txBox="1"/>
          <p:nvPr/>
        </p:nvSpPr>
        <p:spPr>
          <a:xfrm>
            <a:off x="5349240" y="1252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 limits</a:t>
            </a:r>
            <a:endParaRPr lang="en-US" sz="1400" dirty="0"/>
          </a:p>
        </p:txBody>
      </p:sp>
      <p:sp>
        <p:nvSpPr>
          <p:cNvPr id="8" name="txt-114"/>
          <p:cNvSpPr txBox="1"/>
          <p:nvPr/>
        </p:nvSpPr>
        <p:spPr>
          <a:xfrm>
            <a:off x="5349240" y="15453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MAX_HOPS = 7 and one tool call per step; overruns end in hop_budget_exhausted.</a:t>
            </a:r>
            <a:endParaRPr lang="en-US" sz="1200" dirty="0"/>
          </a:p>
        </p:txBody>
      </p:sp>
      <p:sp>
        <p:nvSpPr>
          <p:cNvPr id="9" name="txt-115"/>
          <p:cNvSpPr txBox="1"/>
          <p:nvPr/>
        </p:nvSpPr>
        <p:spPr>
          <a:xfrm>
            <a:off x="457200" y="2377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0" name="txt-116"/>
          <p:cNvSpPr txBox="1"/>
          <p:nvPr/>
        </p:nvSpPr>
        <p:spPr>
          <a:xfrm>
            <a:off x="109728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Phase gating</a:t>
            </a:r>
            <a:endParaRPr lang="en-US" sz="1400" dirty="0"/>
          </a:p>
        </p:txBody>
      </p:sp>
      <p:sp>
        <p:nvSpPr>
          <p:cNvPr id="11" name="txt-117"/>
          <p:cNvSpPr txBox="1"/>
          <p:nvPr/>
        </p:nvSpPr>
        <p:spPr>
          <a:xfrm>
            <a:off x="1097280" y="26883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Each tool is valid only in certain phases; file_issue needs a drafted issue.</a:t>
            </a:r>
            <a:endParaRPr lang="en-US" sz="1200" dirty="0"/>
          </a:p>
        </p:txBody>
      </p:sp>
      <p:sp>
        <p:nvSpPr>
          <p:cNvPr id="12" name="txt-118"/>
          <p:cNvSpPr txBox="1"/>
          <p:nvPr/>
        </p:nvSpPr>
        <p:spPr>
          <a:xfrm>
            <a:off x="4709160" y="2377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xt-119"/>
          <p:cNvSpPr txBox="1"/>
          <p:nvPr/>
        </p:nvSpPr>
        <p:spPr>
          <a:xfrm>
            <a:off x="5349240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File pinning</a:t>
            </a:r>
            <a:endParaRPr lang="en-US" sz="1400" dirty="0"/>
          </a:p>
        </p:txBody>
      </p:sp>
      <p:sp>
        <p:nvSpPr>
          <p:cNvPr id="14" name="txt-120"/>
          <p:cNvSpPr txBox="1"/>
          <p:nvPr/>
        </p:nvSpPr>
        <p:spPr>
          <a:xfrm>
            <a:off x="5349240" y="26883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Only the test_file and draft_path generated in the current session can be run or filed.</a:t>
            </a:r>
            <a:endParaRPr lang="en-US" sz="1200" dirty="0"/>
          </a:p>
        </p:txBody>
      </p:sp>
      <p:sp>
        <p:nvSpPr>
          <p:cNvPr id="15" name="txt-121"/>
          <p:cNvSpPr txBox="1"/>
          <p:nvPr/>
        </p:nvSpPr>
        <p:spPr>
          <a:xfrm>
            <a:off x="457200" y="3520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txt-122"/>
          <p:cNvSpPr txBox="1"/>
          <p:nvPr/>
        </p:nvSpPr>
        <p:spPr>
          <a:xfrm>
            <a:off x="1097280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Cryptographic approval</a:t>
            </a:r>
            <a:endParaRPr lang="en-US" sz="1400" dirty="0"/>
          </a:p>
        </p:txBody>
      </p:sp>
      <p:sp>
        <p:nvSpPr>
          <p:cNvPr id="17" name="txt-123"/>
          <p:cNvSpPr txBox="1"/>
          <p:nvPr/>
        </p:nvSpPr>
        <p:spPr>
          <a:xfrm>
            <a:off x="1097280" y="38313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HMAC-SHA256, single-use tokens with nonce replay protection and expiry, minted only by a human action.</a:t>
            </a:r>
            <a:endParaRPr lang="en-US" sz="1200" dirty="0"/>
          </a:p>
        </p:txBody>
      </p:sp>
      <p:sp>
        <p:nvSpPr>
          <p:cNvPr id="18" name="txt-124"/>
          <p:cNvSpPr txBox="1"/>
          <p:nvPr/>
        </p:nvSpPr>
        <p:spPr>
          <a:xfrm>
            <a:off x="4709160" y="35204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xt-125"/>
          <p:cNvSpPr txBox="1"/>
          <p:nvPr/>
        </p:nvSpPr>
        <p:spPr>
          <a:xfrm>
            <a:off x="5349240" y="3538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I/O guardrails and memory isolation</a:t>
            </a:r>
            <a:endParaRPr lang="en-US" sz="1400" dirty="0"/>
          </a:p>
        </p:txBody>
      </p:sp>
      <p:sp>
        <p:nvSpPr>
          <p:cNvPr id="20" name="txt-126"/>
          <p:cNvSpPr txBox="1"/>
          <p:nvPr/>
        </p:nvSpPr>
        <p:spPr>
          <a:xfrm>
            <a:off x="5349240" y="383133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Rejects empty or oversized input, redacts secrets, withholds unsupported "tests passed" claims. Case history never reaches the LLM.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Engineering evidence</a:t>
            </a:r>
            <a:endParaRPr lang="en-US" sz="3000" dirty="0"/>
          </a:p>
        </p:txBody>
      </p:sp>
      <p:sp>
        <p:nvSpPr>
          <p:cNvPr id="3" name="txt-127"/>
          <p:cNvSpPr txBox="1"/>
          <p:nvPr/>
        </p:nvSpPr>
        <p:spPr>
          <a:xfrm>
            <a:off x="457200" y="1234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4800" dirty="0"/>
          </a:p>
        </p:txBody>
      </p:sp>
      <p:sp>
        <p:nvSpPr>
          <p:cNvPr id="4" name="txt-128"/>
          <p:cNvSpPr txBox="1"/>
          <p:nvPr/>
        </p:nvSpPr>
        <p:spPr>
          <a:xfrm>
            <a:off x="1828800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automated tests passing</a:t>
            </a:r>
            <a:endParaRPr lang="en-US" sz="1400" dirty="0"/>
          </a:p>
        </p:txBody>
      </p:sp>
      <p:sp>
        <p:nvSpPr>
          <p:cNvPr id="5" name="txt-129"/>
          <p:cNvSpPr txBox="1"/>
          <p:nvPr/>
        </p:nvSpPr>
        <p:spPr>
          <a:xfrm>
            <a:off x="1828800" y="1545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pytest tests/ sut/tests/ in under 65 s: guardrails, agent contract, memory, observability, tool failures</a:t>
            </a:r>
            <a:endParaRPr lang="en-US" sz="1100" dirty="0"/>
          </a:p>
        </p:txBody>
      </p:sp>
      <p:sp>
        <p:nvSpPr>
          <p:cNvPr id="6" name="txt-130"/>
          <p:cNvSpPr txBox="1"/>
          <p:nvPr/>
        </p:nvSpPr>
        <p:spPr>
          <a:xfrm>
            <a:off x="457200" y="2377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4800" dirty="0"/>
          </a:p>
        </p:txBody>
      </p:sp>
      <p:sp>
        <p:nvSpPr>
          <p:cNvPr id="7" name="txt-131"/>
          <p:cNvSpPr txBox="1"/>
          <p:nvPr/>
        </p:nvSpPr>
        <p:spPr>
          <a:xfrm>
            <a:off x="1828800" y="2395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evaluation scenarios defined</a:t>
            </a:r>
            <a:endParaRPr lang="en-US" sz="1400" dirty="0"/>
          </a:p>
        </p:txBody>
      </p:sp>
      <p:sp>
        <p:nvSpPr>
          <p:cNvPr id="8" name="txt-132"/>
          <p:cNvSpPr txBox="1"/>
          <p:nvPr/>
        </p:nvSpPr>
        <p:spPr>
          <a:xfrm>
            <a:off x="1828800" y="2688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normal, edge, adversarial, incorrect-info, tool-failure and unauthorized-action cases; not all run live</a:t>
            </a:r>
            <a:endParaRPr lang="en-US" sz="1100" dirty="0"/>
          </a:p>
        </p:txBody>
      </p:sp>
      <p:sp>
        <p:nvSpPr>
          <p:cNvPr id="9" name="txt-133"/>
          <p:cNvSpPr txBox="1"/>
          <p:nvPr/>
        </p:nvSpPr>
        <p:spPr>
          <a:xfrm>
            <a:off x="457200" y="352044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0" name="txt-134"/>
          <p:cNvSpPr txBox="1"/>
          <p:nvPr/>
        </p:nvSpPr>
        <p:spPr>
          <a:xfrm>
            <a:off x="182880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dimensional JSON traces</a:t>
            </a:r>
            <a:endParaRPr lang="en-US" sz="1400" dirty="0"/>
          </a:p>
        </p:txBody>
      </p:sp>
      <p:sp>
        <p:nvSpPr>
          <p:cNvPr id="11" name="txt-135"/>
          <p:cNvSpPr txBox="1"/>
          <p:nvPr/>
        </p:nvSpPr>
        <p:spPr>
          <a:xfrm>
            <a:off x="1828800" y="38313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structured telemetry in evidence/traces/agent_traces.jsonl</a:t>
            </a:r>
            <a:endParaRPr lang="en-US" sz="1100" dirty="0"/>
          </a:p>
        </p:txBody>
      </p:sp>
      <p:sp>
        <p:nvSpPr>
          <p:cNvPr id="12" name="files-136"/>
          <p:cNvSpPr/>
          <p:nvPr/>
        </p:nvSpPr>
        <p:spPr>
          <a:xfrm>
            <a:off x="4663440" y="1234440"/>
            <a:ext cx="4023360" cy="3337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xt-137"/>
          <p:cNvSpPr txBox="1"/>
          <p:nvPr/>
        </p:nvSpPr>
        <p:spPr>
          <a:xfrm>
            <a:off x="484632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4"/>
                </a:solidFill>
              </a:rPr>
              <a:t>WHERE TO LOOK IN THE REPO</a:t>
            </a:r>
            <a:endParaRPr lang="en-US" sz="1100" dirty="0"/>
          </a:p>
        </p:txBody>
      </p:sp>
      <p:sp>
        <p:nvSpPr>
          <p:cNvPr id="14" name="txt-138"/>
          <p:cNvSpPr txBox="1"/>
          <p:nvPr/>
        </p:nvSpPr>
        <p:spPr>
          <a:xfrm>
            <a:off x="4846320" y="16916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evidence/traces/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agent_traces.jsonl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week5_live_traces.jsonl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observability_tracing_evidence.md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docs/evaluation/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final_evaluation_scenarios.json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evaluation_criteria.md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failure_catalogue.md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evidence/issues/filed/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ISSUE-REQ-2.1-20261011T053247Z.md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real failure: API quota</a:t>
            </a:r>
            <a:endParaRPr lang="en-US" sz="3000" dirty="0"/>
          </a:p>
        </p:txBody>
      </p:sp>
      <p:sp>
        <p:nvSpPr>
          <p:cNvPr id="3" name="box-139"/>
          <p:cNvSpPr/>
          <p:nvPr/>
        </p:nvSpPr>
        <p:spPr>
          <a:xfrm>
            <a:off x="457200" y="1371600"/>
            <a:ext cx="2194560" cy="100584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Live run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Gemini free tier</a:t>
            </a:r>
            <a:endParaRPr lang="en-US" sz="1400" dirty="0"/>
          </a:p>
        </p:txBody>
      </p:sp>
      <p:sp>
        <p:nvSpPr>
          <p:cNvPr id="4" name="box-140"/>
          <p:cNvSpPr/>
          <p:nvPr/>
        </p:nvSpPr>
        <p:spPr>
          <a:xfrm>
            <a:off x="3474720" y="1371600"/>
            <a:ext cx="2194560" cy="100584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HTTP 429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~20 requests/day exhausted</a:t>
            </a:r>
            <a:endParaRPr lang="en-US" sz="1400" dirty="0"/>
          </a:p>
        </p:txBody>
      </p:sp>
      <p:sp>
        <p:nvSpPr>
          <p:cNvPr id="5" name="box-141"/>
          <p:cNvSpPr/>
          <p:nvPr/>
        </p:nvSpPr>
        <p:spPr>
          <a:xfrm>
            <a:off x="6492240" y="1371600"/>
            <a:ext cx="2194560" cy="100584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82880" tIns="182880" rIns="182880" bIns="18288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Offline mode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ScriptedLLM, deterministic</a:t>
            </a:r>
            <a:endParaRPr lang="en-US" sz="1400" dirty="0"/>
          </a:p>
        </p:txBody>
      </p:sp>
      <p:sp>
        <p:nvSpPr>
          <p:cNvPr id="6" name="arrow-142"/>
          <p:cNvSpPr/>
          <p:nvPr/>
        </p:nvSpPr>
        <p:spPr>
          <a:xfrm>
            <a:off x="2651760" y="187452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arrow-143"/>
          <p:cNvSpPr/>
          <p:nvPr/>
        </p:nvSpPr>
        <p:spPr>
          <a:xfrm>
            <a:off x="5669280" y="1874520"/>
            <a:ext cx="82296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xt-144"/>
          <p:cNvSpPr txBox="1"/>
          <p:nvPr/>
        </p:nvSpPr>
        <p:spPr>
          <a:xfrm>
            <a:off x="457200" y="274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3"/>
                </a:solidFill>
              </a:rPr>
              <a:t>WHAT HAPPENED</a:t>
            </a:r>
            <a:endParaRPr lang="en-US" sz="1100" dirty="0"/>
          </a:p>
        </p:txBody>
      </p:sp>
      <p:sp>
        <p:nvSpPr>
          <p:cNvPr id="9" name="txt-145"/>
          <p:cNvSpPr txBox="1"/>
          <p:nvPr/>
        </p:nvSpPr>
        <p:spPr>
          <a:xfrm>
            <a:off x="457200" y="3017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Quota exhaustion is logged in evidence/traces/week5_live_traces.jsonl (line 2). Continuous live evaluation is not possible on the free tier.</a:t>
            </a:r>
            <a:endParaRPr lang="en-US" sz="1400" dirty="0"/>
          </a:p>
        </p:txBody>
      </p:sp>
      <p:sp>
        <p:nvSpPr>
          <p:cNvPr id="10" name="txt-146"/>
          <p:cNvSpPr txBox="1"/>
          <p:nvPr/>
        </p:nvSpPr>
        <p:spPr>
          <a:xfrm>
            <a:off x="4846320" y="2743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THE FIX</a:t>
            </a:r>
            <a:endParaRPr lang="en-US" sz="1100" dirty="0"/>
          </a:p>
        </p:txBody>
      </p:sp>
      <p:sp>
        <p:nvSpPr>
          <p:cNvPr id="11" name="txt-147"/>
          <p:cNvSpPr txBox="1"/>
          <p:nvPr/>
        </p:nvSpPr>
        <p:spPr>
          <a:xfrm>
            <a:off x="4846320" y="301752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src/demo_support.py provides ScriptedLLM behind --offline, so demos and tests run deterministically with no cloud API or network.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next steps</a:t>
            </a:r>
            <a:endParaRPr lang="en-US" sz="3000" dirty="0"/>
          </a:p>
        </p:txBody>
      </p:sp>
      <p:graphicFrame>
        <p:nvGraphicFramePr>
          <p:cNvPr id="12" name="limit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next step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7202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issue filing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to evidence/issues/filed/. GitHub API tool exists but was mainly tested locally or with mocks; live use needs GITHUB_TOKEN.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 live GitHub dispatch with a scoped 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quota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Gemini limits (~20 requests/day) block continuous live batch runs.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tier, or recorded playback for full runs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scenarios defined and verified via unit and deterministic tests.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all 42 end to end against a live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F2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synthetic SUT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Python subscription manager with mocked network calls and local JSON ledgers.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on larger, multi-service repositories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Grounded, bounded, human-approved</a:t>
            </a:r>
            <a:endParaRPr lang="en-US" sz="3000" dirty="0"/>
          </a:p>
        </p:txBody>
      </p:sp>
      <p:sp>
        <p:nvSpPr>
          <p:cNvPr id="3" name="dot-148"/>
          <p:cNvSpPr/>
          <p:nvPr/>
        </p:nvSpPr>
        <p:spPr>
          <a:xfrm>
            <a:off x="457200" y="1481328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" name="txt-149"/>
          <p:cNvSpPr txBox="1"/>
          <p:nvPr/>
        </p:nvSpPr>
        <p:spPr>
          <a:xfrm>
            <a:off x="96012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2000" dirty="0"/>
          </a:p>
        </p:txBody>
      </p:sp>
      <p:sp>
        <p:nvSpPr>
          <p:cNvPr id="5" name="txt-150"/>
          <p:cNvSpPr txBox="1"/>
          <p:nvPr/>
        </p:nvSpPr>
        <p:spPr>
          <a:xfrm>
            <a:off x="3383280" y="13716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Answers come from the written requirements through BM25 retrieval, and unanswerable queries are refused.</a:t>
            </a:r>
            <a:endParaRPr lang="en-US" sz="1400" dirty="0"/>
          </a:p>
        </p:txBody>
      </p:sp>
      <p:sp>
        <p:nvSpPr>
          <p:cNvPr id="6" name="dot-151"/>
          <p:cNvSpPr/>
          <p:nvPr/>
        </p:nvSpPr>
        <p:spPr>
          <a:xfrm>
            <a:off x="457200" y="2441448"/>
            <a:ext cx="256032" cy="25603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txt-152"/>
          <p:cNvSpPr txBox="1"/>
          <p:nvPr/>
        </p:nvSpPr>
        <p:spPr>
          <a:xfrm>
            <a:off x="9601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Bounded</a:t>
            </a:r>
            <a:endParaRPr lang="en-US" sz="2000" dirty="0"/>
          </a:p>
        </p:txBody>
      </p:sp>
      <p:sp>
        <p:nvSpPr>
          <p:cNvPr id="8" name="txt-153"/>
          <p:cNvSpPr txBox="1"/>
          <p:nvPr/>
        </p:nvSpPr>
        <p:spPr>
          <a:xfrm>
            <a:off x="3383280" y="233172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phase-gated state machine, hard step limits, pinned files and a sandbox keep every run inside known limits.</a:t>
            </a:r>
            <a:endParaRPr lang="en-US" sz="1400" dirty="0"/>
          </a:p>
        </p:txBody>
      </p:sp>
      <p:sp>
        <p:nvSpPr>
          <p:cNvPr id="9" name="dot-154"/>
          <p:cNvSpPr/>
          <p:nvPr/>
        </p:nvSpPr>
        <p:spPr>
          <a:xfrm>
            <a:off x="457200" y="3401568"/>
            <a:ext cx="256032" cy="25603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xt-155"/>
          <p:cNvSpPr txBox="1"/>
          <p:nvPr/>
        </p:nvSpPr>
        <p:spPr>
          <a:xfrm>
            <a:off x="9601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Human-approved</a:t>
            </a:r>
            <a:endParaRPr lang="en-US" sz="2000" dirty="0"/>
          </a:p>
        </p:txBody>
      </p:sp>
      <p:sp>
        <p:nvSpPr>
          <p:cNvPr id="11" name="txt-156"/>
          <p:cNvSpPr txBox="1"/>
          <p:nvPr/>
        </p:nvSpPr>
        <p:spPr>
          <a:xfrm>
            <a:off x="3383280" y="329184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Nothing is filed without a single-use HMAC token minted by a person, and a rejection is a controlled stop.</a:t>
            </a:r>
            <a:endParaRPr lang="en-US" sz="1400" dirty="0"/>
          </a:p>
        </p:txBody>
      </p:sp>
      <p:sp>
        <p:nvSpPr>
          <p:cNvPr id="12" name="txt-157"/>
          <p:cNvSpPr txBox="1"/>
          <p:nvPr/>
        </p:nvSpPr>
        <p:spPr>
          <a:xfrm>
            <a:off x="45720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A5B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pectra Capstone">
  <a:themeElements>
    <a:clrScheme name="Inspectra Capstone">
      <a:dk1>
        <a:srgbClr val="17202A"/>
      </a:dk1>
      <a:lt1>
        <a:srgbClr val="FFFFFF"/>
      </a:lt1>
      <a:dk2>
        <a:srgbClr val="2E3C4C"/>
      </a:dk2>
      <a:lt2>
        <a:srgbClr val="F0F2F4"/>
      </a:lt2>
      <a:accent1>
        <a:srgbClr val="D99A1E"/>
      </a:accent1>
      <a:accent2>
        <a:srgbClr val="2E7D5B"/>
      </a:accent2>
      <a:accent3>
        <a:srgbClr val="C0392B"/>
      </a:accent3>
      <a:accent4>
        <a:srgbClr val="3F6C8F"/>
      </a:accent4>
      <a:accent5>
        <a:srgbClr val="5F6B78"/>
      </a:accent5>
      <a:accent6>
        <a:srgbClr val="9AA5B1"/>
      </a:accent6>
      <a:hlink>
        <a:srgbClr val="3F6C8F"/>
      </a:hlink>
      <a:folHlink>
        <a:srgbClr val="5F6B78"/>
      </a:folHlink>
    </a:clrScheme>
    <a:fontScheme name="Inspectra Capston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Inspectra: Software-Engineering QA Agent</dc:title>
  <dc:subject>BSE 4104 Emerging Trends in Software Engineering - Capstone</dc:subject>
  <dc:creator>PptxGenJS</dc:creator>
  <cp:lastModifiedBy>PptxGenJS</cp:lastModifiedBy>
  <cp:revision>1</cp:revision>
  <dcterms:created xsi:type="dcterms:W3CDTF">2026-10-22T22:26:18Z</dcterms:created>
  <dcterms:modified xsi:type="dcterms:W3CDTF">2026-10-22T22:26:18Z</dcterms:modified>
</cp:coreProperties>
</file>